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22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part two of a personal overfitting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part one's finding to the broader research question about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four-step protocol: features, naive k-selection, walk-forward test, dual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six KPIs showing DWKNN's generalisation improvement over vanilla KNN.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window-by-window bar chart comparing vanilla KNN and DWKNN generalisation ratios.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Sharpe ratio KPIs — the reality check showing generalisation isn't the same as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outlier check on the mean and the sign-of-returns gotcha in the ratio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honest research habit that carried across both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background and contact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martin-muller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3316635"/>
            <a:ext cx="13620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RESEARCH PROJECT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3888135"/>
            <a:ext cx="1362075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36"/>
              </a:lnSpc>
              <a:buNone/>
            </a:pPr>
            <a:r>
              <a:rPr lang="en-US" sz="7200" b="1" kern="0" spc="-144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k Overfit Too?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952500" y="5153025"/>
            <a:ext cx="12263438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distance-weighted KNN strategy on an Emerging Markets Asia ETF — and a reality check the generalisation ratio alone couldn't catch.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52500" y="6570166"/>
            <a:ext cx="21249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Martin Muller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3055739" y="6570166"/>
            <a:ext cx="2248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3375868" y="6570166"/>
            <a:ext cx="42497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ESCP &amp; Sorbonne Université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410748" y="6570166"/>
            <a:ext cx="2248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730877" y="6570166"/>
            <a:ext cx="6706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102870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overfitting trap to a broader question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1971675"/>
            <a:ext cx="5232350" cy="7629525"/>
          </a:xfrm>
          <a:prstGeom prst="roundRect">
            <a:avLst>
              <a:gd name="adj" fmla="val 728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43025" y="2362200"/>
            <a:ext cx="48964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43025" y="2895600"/>
            <a:ext cx="4896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result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43025" y="3409950"/>
            <a:ext cx="4584839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previous project showed that a simple moving-average trading rule, optimised naively, looked great in-sample and collapsed out-of-sample — but that was only one type of rule.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6527750" y="1971675"/>
            <a:ext cx="5232499" cy="7629525"/>
          </a:xfrm>
          <a:prstGeom prst="roundRect">
            <a:avLst>
              <a:gd name="adj" fmla="val 728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918275" y="2362200"/>
            <a:ext cx="48965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18275" y="2895600"/>
            <a:ext cx="48965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broader question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6918275" y="3409950"/>
            <a:ext cx="4584993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same trap appear inside a proper machine learning model? K-Nearest Neighbours — the first algorithm I studied in depth — has a parameter, k, with exactly this kind of weakness.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2103150" y="1971675"/>
            <a:ext cx="5232350" cy="7629525"/>
          </a:xfrm>
          <a:prstGeom prst="roundRect">
            <a:avLst>
              <a:gd name="adj" fmla="val 728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2493675" y="2362200"/>
            <a:ext cx="48964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93675" y="2895600"/>
            <a:ext cx="4896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candidate fix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493675" y="3409950"/>
            <a:ext cx="4584839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distance-weighted KNN (DWKNN) literature, notably in emerging-market exchange rate forecasting, claims that weighting neighbours by inverse distance reduces sensitivity to k. I wanted to test that claim directly.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40005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9052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80963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80963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80963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80963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80963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80963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80963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80963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80963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80963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80963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80963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80963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80963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81915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walk-forward protocol, new model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1762125"/>
            <a:ext cx="16383000" cy="4086225"/>
          </a:xfrm>
          <a:prstGeom prst="roundRect">
            <a:avLst>
              <a:gd name="adj" fmla="val 932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43025" y="2038350"/>
            <a:ext cx="17162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ROLLING WINDOWS · AAXJ 2016–2024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43025" y="2533650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914525" y="2576513"/>
            <a:ext cx="5636419" cy="190500"/>
          </a:xfrm>
          <a:prstGeom prst="roundRect">
            <a:avLst>
              <a:gd name="adj" fmla="val 1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7550944" y="2576513"/>
            <a:ext cx="1878806" cy="1905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343025" y="2905125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3605361" y="2947988"/>
            <a:ext cx="5636419" cy="190500"/>
          </a:xfrm>
          <a:prstGeom prst="roundRect">
            <a:avLst>
              <a:gd name="adj" fmla="val 1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9241780" y="2947988"/>
            <a:ext cx="1878806" cy="1905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343025" y="3276600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5296346" y="3319463"/>
            <a:ext cx="5636419" cy="190500"/>
          </a:xfrm>
          <a:prstGeom prst="roundRect">
            <a:avLst>
              <a:gd name="adj" fmla="val 1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10932765" y="3319463"/>
            <a:ext cx="1878806" cy="1905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343025" y="3648075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6987183" y="3690937"/>
            <a:ext cx="5636419" cy="190500"/>
          </a:xfrm>
          <a:prstGeom prst="roundRect">
            <a:avLst>
              <a:gd name="adj" fmla="val 1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12623602" y="3690937"/>
            <a:ext cx="1878806" cy="1905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343025" y="4019550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8678168" y="4062412"/>
            <a:ext cx="5636419" cy="190500"/>
          </a:xfrm>
          <a:prstGeom prst="roundRect">
            <a:avLst>
              <a:gd name="adj" fmla="val 1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14314587" y="4062412"/>
            <a:ext cx="1878806" cy="1905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1343025" y="4391025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0369153" y="4433888"/>
            <a:ext cx="5636419" cy="190500"/>
          </a:xfrm>
          <a:prstGeom prst="roundRect">
            <a:avLst>
              <a:gd name="adj" fmla="val 1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16005572" y="4433888"/>
            <a:ext cx="939403" cy="1905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1914525" y="4781550"/>
            <a:ext cx="1503045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914525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724721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534918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345114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155460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965656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775853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4586049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6396246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343025" y="5429250"/>
            <a:ext cx="152400" cy="95250"/>
          </a:xfrm>
          <a:prstGeom prst="roundRect">
            <a:avLst>
              <a:gd name="adj" fmla="val 2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1571625" y="5324475"/>
            <a:ext cx="76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2524125" y="5429250"/>
            <a:ext cx="152400" cy="95250"/>
          </a:xfrm>
          <a:prstGeom prst="roundRect">
            <a:avLst>
              <a:gd name="adj" fmla="val 20000"/>
            </a:avLst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752725" y="5324475"/>
            <a:ext cx="1859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52500" y="6076950"/>
            <a:ext cx="6865590" cy="3524250"/>
          </a:xfrm>
          <a:prstGeom prst="roundRect">
            <a:avLst>
              <a:gd name="adj" fmla="val 1081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1266825" y="6353175"/>
            <a:ext cx="68606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INSIDE ONE WINDOW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266825" y="6848475"/>
            <a:ext cx="3742134" cy="533400"/>
          </a:xfrm>
          <a:prstGeom prst="rect">
            <a:avLst/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5008959" y="6848475"/>
            <a:ext cx="935534" cy="533400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5944493" y="6848475"/>
            <a:ext cx="1559123" cy="5334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1266825" y="7496175"/>
            <a:ext cx="38543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sub-train 80%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008959" y="7496175"/>
            <a:ext cx="101173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20%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944493" y="7496175"/>
            <a:ext cx="163532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250d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266825" y="8296275"/>
            <a:ext cx="642404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is grid-searched in {3,5,7,10,15,20,30,40,50} on the validation slice, then frozen and applied once to the untouched test slice.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8046690" y="6076950"/>
            <a:ext cx="4549080" cy="1666875"/>
          </a:xfrm>
          <a:prstGeom prst="roundRect">
            <a:avLst>
              <a:gd name="adj" fmla="val 2286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8322915" y="6315075"/>
            <a:ext cx="2477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64" name="Text 62"/>
          <p:cNvSpPr/>
          <p:nvPr/>
        </p:nvSpPr>
        <p:spPr>
          <a:xfrm>
            <a:off x="8665964" y="6315075"/>
            <a:ext cx="376318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daily features → KNN regression → long/flat signal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2786271" y="6076950"/>
            <a:ext cx="4549229" cy="1666875"/>
          </a:xfrm>
          <a:prstGeom prst="roundRect">
            <a:avLst>
              <a:gd name="adj" fmla="val 2286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13062496" y="6315075"/>
            <a:ext cx="2477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67" name="Text 65"/>
          <p:cNvSpPr/>
          <p:nvPr/>
        </p:nvSpPr>
        <p:spPr>
          <a:xfrm>
            <a:off x="13405545" y="6315075"/>
            <a:ext cx="376334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k-selection on an 80/20 validation split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8046690" y="7934325"/>
            <a:ext cx="4549080" cy="1666875"/>
          </a:xfrm>
          <a:prstGeom prst="roundRect">
            <a:avLst>
              <a:gd name="adj" fmla="val 2286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8322915" y="8172450"/>
            <a:ext cx="2477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70" name="Text 68"/>
          <p:cNvSpPr/>
          <p:nvPr/>
        </p:nvSpPr>
        <p:spPr>
          <a:xfrm>
            <a:off x="8665964" y="8172450"/>
            <a:ext cx="376318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rolling windows on real AAXJ prices, 10 bps costs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2786271" y="7934325"/>
            <a:ext cx="4549229" cy="1666875"/>
          </a:xfrm>
          <a:prstGeom prst="roundRect">
            <a:avLst>
              <a:gd name="adj" fmla="val 2286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13062496" y="8172450"/>
            <a:ext cx="2477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73" name="Text 71"/>
          <p:cNvSpPr/>
          <p:nvPr/>
        </p:nvSpPr>
        <p:spPr>
          <a:xfrm>
            <a:off x="13405545" y="8172450"/>
            <a:ext cx="376334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check: ratio AND Sharpe — generalising ≠ profitable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102870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correction improved generalisation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1971675"/>
            <a:ext cx="5283101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04925" y="3074194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KNN · MEDIAN RATIO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04925" y="3531394"/>
            <a:ext cx="50360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−0.21</a:t>
            </a:r>
            <a:endParaRPr lang="en-US" sz="4350" dirty="0"/>
          </a:p>
        </p:txBody>
      </p:sp>
      <p:sp>
        <p:nvSpPr>
          <p:cNvPr id="22" name="Text 20"/>
          <p:cNvSpPr/>
          <p:nvPr/>
        </p:nvSpPr>
        <p:spPr>
          <a:xfrm>
            <a:off x="1304925" y="4245769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overfitting trap as project one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02301" y="1971675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54726" y="3074194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· MEDIAN RATIO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4726" y="3531394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+1.11</a:t>
            </a:r>
            <a:endParaRPr lang="en-US" sz="4350" dirty="0"/>
          </a:p>
        </p:txBody>
      </p:sp>
      <p:sp>
        <p:nvSpPr>
          <p:cNvPr id="26" name="Text 24"/>
          <p:cNvSpPr/>
          <p:nvPr/>
        </p:nvSpPr>
        <p:spPr>
          <a:xfrm>
            <a:off x="6854726" y="4245769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/ slightly above perfect generalisation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052250" y="1971675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2404675" y="3074194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LOSS-MAKING WINDOWS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04675" y="3531394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4/6 → 3/6</a:t>
            </a:r>
            <a:endParaRPr lang="en-US" sz="4350" dirty="0"/>
          </a:p>
        </p:txBody>
      </p:sp>
      <p:sp>
        <p:nvSpPr>
          <p:cNvPr id="30" name="Text 28"/>
          <p:cNvSpPr/>
          <p:nvPr/>
        </p:nvSpPr>
        <p:spPr>
          <a:xfrm>
            <a:off x="12404675" y="4245769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vs. DWKNN, out of 6 windows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2500" y="5919788"/>
            <a:ext cx="5283101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304925" y="7022306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KNN · MEAN RATIO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04925" y="7479506"/>
            <a:ext cx="50360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−0.13</a:t>
            </a:r>
            <a:endParaRPr lang="en-US" sz="4350" dirty="0"/>
          </a:p>
        </p:txBody>
      </p:sp>
      <p:sp>
        <p:nvSpPr>
          <p:cNvPr id="34" name="Text 32"/>
          <p:cNvSpPr/>
          <p:nvPr/>
        </p:nvSpPr>
        <p:spPr>
          <a:xfrm>
            <a:off x="1304925" y="8193881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dev 1.08 — already unstable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02301" y="5919788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854726" y="7022306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· MEAN RATIO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54726" y="7479506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+1.33</a:t>
            </a:r>
            <a:endParaRPr lang="en-US" sz="4350" dirty="0"/>
          </a:p>
        </p:txBody>
      </p:sp>
      <p:sp>
        <p:nvSpPr>
          <p:cNvPr id="38" name="Text 36"/>
          <p:cNvSpPr/>
          <p:nvPr/>
        </p:nvSpPr>
        <p:spPr>
          <a:xfrm>
            <a:off x="6854726" y="8193881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dev 2.88 — outlier risk, see slide 7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052250" y="5919788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2404675" y="7022306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WALK-FORWARD WINDOWS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404675" y="7479506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4350" dirty="0"/>
          </a:p>
        </p:txBody>
      </p:sp>
      <p:sp>
        <p:nvSpPr>
          <p:cNvPr id="42" name="Text 40"/>
          <p:cNvSpPr/>
          <p:nvPr/>
        </p:nvSpPr>
        <p:spPr>
          <a:xfrm>
            <a:off x="12404675" y="8193881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AAXJ data, 500d train / 250d test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102870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KNN vs. DWKNN, window by window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1857375"/>
            <a:ext cx="9737527" cy="7743825"/>
          </a:xfrm>
          <a:prstGeom prst="roundRect">
            <a:avLst>
              <a:gd name="adj" fmla="val 492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43025" y="2209800"/>
            <a:ext cx="5300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GENERALISATION RATIO PER WINDOW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50472" y="2209800"/>
            <a:ext cx="19488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VANILLA KNN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50722" y="2209800"/>
            <a:ext cx="10249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DWKNN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43025" y="2667000"/>
            <a:ext cx="190500" cy="190500"/>
          </a:xfrm>
          <a:prstGeom prst="rect">
            <a:avLst/>
          </a:prstGeom>
          <a:solidFill>
            <a:srgbClr val="E9E7E0">
              <a:alpha val="50000"/>
            </a:srgbClr>
          </a:solidFill>
          <a:ln w="9525">
            <a:solidFill>
              <a:srgbClr val="8B93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628775" y="2609850"/>
            <a:ext cx="46620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ratio, still loss-making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43025" y="3076575"/>
            <a:ext cx="350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876425" y="3181350"/>
            <a:ext cx="8423077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343025" y="3476625"/>
            <a:ext cx="350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876425" y="3658642"/>
            <a:ext cx="8423077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343025" y="4448175"/>
            <a:ext cx="350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876425" y="4632127"/>
            <a:ext cx="8423077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343025" y="5419725"/>
            <a:ext cx="350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876425" y="5606504"/>
            <a:ext cx="8423077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343025" y="6391275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43025" y="7362825"/>
            <a:ext cx="350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876425" y="7553325"/>
            <a:ext cx="8423077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1876425" y="6083647"/>
            <a:ext cx="8423077" cy="1905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952625" y="5762625"/>
            <a:ext cx="13579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1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876425" y="6579989"/>
            <a:ext cx="8423077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2149376" y="6589514"/>
            <a:ext cx="321022" cy="733425"/>
          </a:xfrm>
          <a:prstGeom prst="roundRect">
            <a:avLst>
              <a:gd name="adj" fmla="val 5934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2527548" y="6589514"/>
            <a:ext cx="321022" cy="628650"/>
          </a:xfrm>
          <a:prstGeom prst="roundRect">
            <a:avLst>
              <a:gd name="adj" fmla="val 5934"/>
            </a:avLst>
          </a:prstGeom>
          <a:solidFill>
            <a:srgbClr val="2ED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430363" y="76200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584972" y="6465689"/>
            <a:ext cx="321022" cy="123825"/>
          </a:xfrm>
          <a:prstGeom prst="roundRect">
            <a:avLst>
              <a:gd name="adj" fmla="val 15385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3963144" y="6027539"/>
            <a:ext cx="321022" cy="561975"/>
          </a:xfrm>
          <a:prstGeom prst="roundRect">
            <a:avLst>
              <a:gd name="adj" fmla="val 5934"/>
            </a:avLst>
          </a:prstGeom>
          <a:solidFill>
            <a:srgbClr val="2ED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865959" y="76200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020568" y="6589514"/>
            <a:ext cx="321022" cy="295275"/>
          </a:xfrm>
          <a:prstGeom prst="roundRect">
            <a:avLst>
              <a:gd name="adj" fmla="val 6452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5398740" y="6103739"/>
            <a:ext cx="321022" cy="485775"/>
          </a:xfrm>
          <a:prstGeom prst="roundRect">
            <a:avLst>
              <a:gd name="adj" fmla="val 5934"/>
            </a:avLst>
          </a:prstGeom>
          <a:solidFill>
            <a:srgbClr val="2ED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301555" y="76200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6456164" y="6589514"/>
            <a:ext cx="321022" cy="438150"/>
          </a:xfrm>
          <a:prstGeom prst="roundRect">
            <a:avLst>
              <a:gd name="adj" fmla="val 5934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834336" y="6589514"/>
            <a:ext cx="321022" cy="409575"/>
          </a:xfrm>
          <a:prstGeom prst="roundRect">
            <a:avLst>
              <a:gd name="adj" fmla="val 5934"/>
            </a:avLst>
          </a:prstGeom>
          <a:solidFill>
            <a:srgbClr val="2ED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737152" y="76200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7891760" y="6103739"/>
            <a:ext cx="321022" cy="485775"/>
          </a:xfrm>
          <a:prstGeom prst="roundRect">
            <a:avLst>
              <a:gd name="adj" fmla="val 5934"/>
            </a:avLst>
          </a:prstGeom>
          <a:solidFill>
            <a:srgbClr val="FF5C5C"/>
          </a:solidFill>
          <a:ln w="1905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8269932" y="5932289"/>
            <a:ext cx="321022" cy="657225"/>
          </a:xfrm>
          <a:prstGeom prst="roundRect">
            <a:avLst>
              <a:gd name="adj" fmla="val 5934"/>
            </a:avLst>
          </a:prstGeom>
          <a:solidFill>
            <a:srgbClr val="2ED573"/>
          </a:solidFill>
          <a:ln w="1905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8172748" y="76200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327356" y="6103739"/>
            <a:ext cx="321022" cy="485775"/>
          </a:xfrm>
          <a:prstGeom prst="roundRect">
            <a:avLst>
              <a:gd name="adj" fmla="val 5934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9705529" y="3331964"/>
            <a:ext cx="321022" cy="3257550"/>
          </a:xfrm>
          <a:prstGeom prst="roundRect">
            <a:avLst>
              <a:gd name="adj" fmla="val 5934"/>
            </a:avLst>
          </a:prstGeom>
          <a:solidFill>
            <a:srgbClr val="2ED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9608344" y="76200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895201" y="7981950"/>
            <a:ext cx="9852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8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WALK-FORWARD WINDOW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0956727" y="1857375"/>
            <a:ext cx="6378773" cy="7743825"/>
          </a:xfrm>
          <a:prstGeom prst="roundRect">
            <a:avLst>
              <a:gd name="adj" fmla="val 597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11347252" y="2209800"/>
            <a:ext cx="61574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GENERALISATION RATIO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1347252" y="267652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+1.3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1880652" y="2781300"/>
            <a:ext cx="5064323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11347252" y="3371850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1880652" y="3611910"/>
            <a:ext cx="5064323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11347252" y="4038600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880652" y="4284464"/>
            <a:ext cx="5064323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11347252" y="47625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1347252" y="54387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−0.4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1880652" y="5629275"/>
            <a:ext cx="5064323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11880652" y="3267075"/>
            <a:ext cx="5064323" cy="1905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11880652" y="2943225"/>
            <a:ext cx="13579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1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1880652" y="4956870"/>
            <a:ext cx="5064323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12597705" y="4966395"/>
            <a:ext cx="1097905" cy="352425"/>
          </a:xfrm>
          <a:prstGeom prst="roundRect">
            <a:avLst>
              <a:gd name="adj" fmla="val 5405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12559605" y="5414070"/>
            <a:ext cx="11741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−0.21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2392323" y="5886450"/>
            <a:ext cx="16597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KNN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5129867" y="3099495"/>
            <a:ext cx="1097905" cy="1866900"/>
          </a:xfrm>
          <a:prstGeom prst="roundRect">
            <a:avLst>
              <a:gd name="adj" fmla="val 1735"/>
            </a:avLst>
          </a:prstGeom>
          <a:solidFill>
            <a:srgbClr val="2ED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15091767" y="2747070"/>
            <a:ext cx="11741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+1.11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15335994" y="5886450"/>
            <a:ext cx="76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102870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ratio isn't a good strategy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1971675"/>
            <a:ext cx="5283101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04925" y="3074194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KNN · TRAIN SHARPE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04925" y="3531394"/>
            <a:ext cx="50360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1.69</a:t>
            </a:r>
            <a:endParaRPr lang="en-US" sz="4350" dirty="0"/>
          </a:p>
        </p:txBody>
      </p:sp>
      <p:sp>
        <p:nvSpPr>
          <p:cNvPr id="22" name="Text 20"/>
          <p:cNvSpPr/>
          <p:nvPr/>
        </p:nvSpPr>
        <p:spPr>
          <a:xfrm>
            <a:off x="1304925" y="4245769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optimistic before testing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02301" y="1971675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54726" y="2921794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· TRAIN SHARPE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4726" y="3378994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9.92</a:t>
            </a:r>
            <a:endParaRPr lang="en-US" sz="4350" dirty="0"/>
          </a:p>
        </p:txBody>
      </p:sp>
      <p:sp>
        <p:nvSpPr>
          <p:cNvPr id="26" name="Text 24"/>
          <p:cNvSpPr/>
          <p:nvPr/>
        </p:nvSpPr>
        <p:spPr>
          <a:xfrm>
            <a:off x="6854726" y="4093369"/>
            <a:ext cx="47157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windows hit 8–11 — no real strategy sustains that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052250" y="1971675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2404675" y="3074194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TEST-SHARPE WINDOWS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04675" y="3531394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0/6 → 3/6</a:t>
            </a:r>
            <a:endParaRPr lang="en-US" sz="4350" dirty="0"/>
          </a:p>
        </p:txBody>
      </p:sp>
      <p:sp>
        <p:nvSpPr>
          <p:cNvPr id="30" name="Text 28"/>
          <p:cNvSpPr/>
          <p:nvPr/>
        </p:nvSpPr>
        <p:spPr>
          <a:xfrm>
            <a:off x="12404675" y="4245769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vs. DWKNN — better, not solved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2500" y="5919788"/>
            <a:ext cx="5283101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304925" y="7022306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KNN · TEST SHARPE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04925" y="7479506"/>
            <a:ext cx="50360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−0.58</a:t>
            </a:r>
            <a:endParaRPr lang="en-US" sz="4350" dirty="0"/>
          </a:p>
        </p:txBody>
      </p:sp>
      <p:sp>
        <p:nvSpPr>
          <p:cNvPr id="34" name="Text 32"/>
          <p:cNvSpPr/>
          <p:nvPr/>
        </p:nvSpPr>
        <p:spPr>
          <a:xfrm>
            <a:off x="1304925" y="8193881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in every single window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02301" y="5919788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854726" y="7022306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· TEST SHARPE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54726" y="7479506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4350" dirty="0"/>
          </a:p>
        </p:txBody>
      </p:sp>
      <p:sp>
        <p:nvSpPr>
          <p:cNvPr id="38" name="Text 36"/>
          <p:cNvSpPr/>
          <p:nvPr/>
        </p:nvSpPr>
        <p:spPr>
          <a:xfrm>
            <a:off x="6854726" y="8193881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improved, but still negative on average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052250" y="5919788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41B33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2404675" y="7417594"/>
            <a:ext cx="471575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1800" kern="0" spc="36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“Ratio vs. Sharpe — 'generalised well' ≠ 'performed well'”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102870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right isn't enough — I checked why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1971675"/>
            <a:ext cx="8020050" cy="7629525"/>
          </a:xfrm>
          <a:prstGeom prst="roundRect">
            <a:avLst>
              <a:gd name="adj" fmla="val 499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81125" y="2400300"/>
            <a:ext cx="78790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DWKNN win itself outlier-driven?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81125" y="2952750"/>
            <a:ext cx="7377684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window's ratio (</a:t>
            </a:r>
            <a:r>
              <a:rPr lang="en-US" sz="19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6.70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pulls the DWKNN mean from </a:t>
            </a:r>
            <a:r>
              <a:rPr lang="en-US" sz="195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 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(without it) up to </a:t>
            </a:r>
            <a:r>
              <a:rPr lang="en-US" sz="195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1.33 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it) — same distortion pattern as project one.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81125" y="4332833"/>
            <a:ext cx="7377684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median barely moves (</a:t>
            </a:r>
            <a:r>
              <a:rPr lang="en-US" sz="1950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1.03 → 1.11 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which is why it's the statistic to trust.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315450" y="1971675"/>
            <a:ext cx="8020050" cy="7629525"/>
          </a:xfrm>
          <a:prstGeom prst="roundRect">
            <a:avLst>
              <a:gd name="adj" fmla="val 499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9744075" y="2400300"/>
            <a:ext cx="78790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ratio above 1 isn't always good news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744075" y="2952750"/>
            <a:ext cx="7377684" cy="1573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window's DWKNN ratio is </a:t>
            </a:r>
            <a:r>
              <a:rPr lang="en-US" sz="1950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+1.39 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but training return was </a:t>
            </a:r>
            <a:r>
              <a:rPr lang="en-US" sz="1950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−8.9% 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test return was </a:t>
            </a:r>
            <a:r>
              <a:rPr lang="en-US" sz="1950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−12.4% 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Two negative numbers divided give a positive ratio, even though the strategy lost money both times.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744075" y="4716661"/>
            <a:ext cx="7377684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ratio must always be read together with the sign of the underlying returns.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102870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projects, one honest research habit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4657725"/>
            <a:ext cx="15240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52500" y="3629025"/>
            <a:ext cx="457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600200" y="3629025"/>
            <a:ext cx="150300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one: a naive correction (averaging top-5 parameters) failed. Project two: a theoretically motivated one (distance weighting) improved things — without fully solving them.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52500" y="5562600"/>
            <a:ext cx="15240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52500" y="4933950"/>
            <a:ext cx="457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600200" y="4933950"/>
            <a:ext cx="149009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overfitting trap isn't specific to trading rules — it shows up in a textbook ML hyperparameter (k) just as clearly.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52500" y="6867525"/>
            <a:ext cx="15240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952500" y="5838825"/>
            <a:ext cx="457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600200" y="5838825"/>
            <a:ext cx="150300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Generalisation ratio and Sharpe ratio answer different questions. A model can "generalise" a mediocre result faithfully — that's not the same as being profitable.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52500" y="7143750"/>
            <a:ext cx="457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600200" y="7143750"/>
            <a:ext cx="150300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"successful" result can hide an outlier-driven mean. Checking median vs. mean is now a standing habit, not a one-off fix.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+1.11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3708053"/>
            <a:ext cx="85802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ME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4241453"/>
            <a:ext cx="8580254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Martin Muller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952500" y="5051078"/>
            <a:ext cx="8580254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ESCP Business School · M1 Applied Mathematics, Sorbonne Université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52500" y="5778698"/>
            <a:ext cx="85802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martin.muller@edu.escp.eu</a:t>
            </a:r>
            <a:endParaRPr lang="en-US" sz="1800" dirty="0"/>
          </a:p>
        </p:txBody>
      </p:sp>
      <p:sp>
        <p:nvSpPr>
          <p:cNvPr id="22" name="Text 20">
            <a:hlinkClick r:id="rId3"/>
          </p:cNvPr>
          <p:cNvSpPr/>
          <p:nvPr/>
        </p:nvSpPr>
        <p:spPr>
          <a:xfrm>
            <a:off x="952500" y="6197798"/>
            <a:ext cx="85802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u="sng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linkedin.com/in/martin-muller1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705231" y="3505200"/>
            <a:ext cx="9525" cy="3200400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0667256" y="3505200"/>
            <a:ext cx="6868291" cy="323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176"/>
              </a:lnSpc>
              <a:buNone/>
            </a:pPr>
            <a:r>
              <a:rPr lang="en-US" sz="225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Dual-degree student building a quantitative finance profile at the intersection of applied mathematics and market practice — managing my own equity portfolio for 2+ years alongside my studies. I write up projects like this one to learn in public and to hold my own results to the same standard I'd expect from anyone else's.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1202</Words>
  <Application>Microsoft Office PowerPoint</Application>
  <PresentationFormat>Personnalisé</PresentationFormat>
  <Paragraphs>282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Martin MULLER</cp:lastModifiedBy>
  <cp:revision>2</cp:revision>
  <dcterms:created xsi:type="dcterms:W3CDTF">2026-07-15T12:41:42Z</dcterms:created>
  <dcterms:modified xsi:type="dcterms:W3CDTF">2026-07-15T13:49:19Z</dcterms:modified>
</cp:coreProperties>
</file>