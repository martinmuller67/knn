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22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part two of a personal overfitting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part one's finding to the broader research question about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protocol: features, naive k-selection, walk-forward test, dual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six KPIs showing DWKNN's generalisation improvement over vanilla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window-by-window bar chart comparing vanilla KNN and DWKNN generalisation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Sharpe ratio KPIs — the reality check showing generalisation isn't the same as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outlier check on the mean and the sign-of-returns gotcha in the ratio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honest research habit that carried across both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background and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martin-muller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316635"/>
            <a:ext cx="13620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RESEARCH PROJECT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3888135"/>
            <a:ext cx="1362075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36"/>
              </a:lnSpc>
              <a:buNone/>
            </a:pPr>
            <a:r>
              <a:rPr lang="en-US" sz="7200" b="1" kern="0" spc="-144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k Overfit Too?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952500" y="5153025"/>
            <a:ext cx="1226343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distance-weighted KNN strategy on an Emerging Markets Asia ETF — and a reality check the generalisation ratio alone couldn't catch.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2500" y="6570166"/>
            <a:ext cx="21249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Martin Muller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055739" y="6570166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375868" y="6570166"/>
            <a:ext cx="42497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ESCP &amp; Sorbonne Université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410748" y="6570166"/>
            <a:ext cx="2248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730877" y="6570166"/>
            <a:ext cx="6706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overfitting trap to a broader question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32350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362200"/>
            <a:ext cx="489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3025" y="2895600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result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43025" y="3409950"/>
            <a:ext cx="4584839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previous project showed that a simple moving-average trading rule, optimised naively, looked great in-sample and collapsed out-of-sample — but that was only one type of rule.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527750" y="1971675"/>
            <a:ext cx="5232499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18275" y="2362200"/>
            <a:ext cx="48965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18275" y="2895600"/>
            <a:ext cx="4896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broader question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918275" y="3409950"/>
            <a:ext cx="458499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same trap appear inside a proper machine learning model? K-Nearest Neighbours — the first algorithm I studied in depth — has a parameter, k, with exactly this kind of weakness.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2103150" y="1971675"/>
            <a:ext cx="5232350" cy="7629525"/>
          </a:xfrm>
          <a:prstGeom prst="roundRect">
            <a:avLst>
              <a:gd name="adj" fmla="val 728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93675" y="2362200"/>
            <a:ext cx="489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93675" y="2895600"/>
            <a:ext cx="4896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fix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493675" y="3409950"/>
            <a:ext cx="4584839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distance-weighted KNN (DWKNN) literature, notably in emerging-market exchange rate forecasting, claims that weighting neighbours by inverse distance reduces sensitivity to k. I wanted to test that claim directly.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40005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39052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80963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80963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80963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80963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80963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80963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80963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80963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80963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80963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81915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walk-forward protocol, new model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762125"/>
            <a:ext cx="16383000" cy="4086225"/>
          </a:xfrm>
          <a:prstGeom prst="roundRect">
            <a:avLst>
              <a:gd name="adj" fmla="val 932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038350"/>
            <a:ext cx="17162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ROLLING WINDOWS · AAXJ 2016–2024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3025" y="253365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914525" y="2576513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7550944" y="2576513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343025" y="290512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605361" y="2947988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241780" y="2947988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343025" y="327660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5296346" y="3319463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0932765" y="3319463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343025" y="364807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987183" y="3690937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2623602" y="3690937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43025" y="4019550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678168" y="4062412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4314587" y="4062412"/>
            <a:ext cx="1878806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343025" y="4391025"/>
            <a:ext cx="647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369153" y="4433888"/>
            <a:ext cx="5636419" cy="190500"/>
          </a:xfrm>
          <a:prstGeom prst="roundRect">
            <a:avLst>
              <a:gd name="adj" fmla="val 1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005572" y="4433888"/>
            <a:ext cx="939403" cy="1905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914525" y="4781550"/>
            <a:ext cx="1503045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914525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724721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34918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45114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55460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965656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775853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586049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396246" y="48291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43025" y="542925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571625" y="5324475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524125" y="5429250"/>
            <a:ext cx="152400" cy="95250"/>
          </a:xfrm>
          <a:prstGeom prst="roundRect">
            <a:avLst>
              <a:gd name="adj" fmla="val 20000"/>
            </a:avLst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52725" y="5324475"/>
            <a:ext cx="1859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52500" y="6076950"/>
            <a:ext cx="6865590" cy="3524250"/>
          </a:xfrm>
          <a:prstGeom prst="roundRect">
            <a:avLst>
              <a:gd name="adj" fmla="val 1081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266825" y="6353175"/>
            <a:ext cx="68606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ONE WINDOW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266825" y="6848475"/>
            <a:ext cx="3742134" cy="533400"/>
          </a:xfrm>
          <a:prstGeom prst="rect">
            <a:avLst/>
          </a:prstGeom>
          <a:solidFill>
            <a:srgbClr val="8B93A7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5008959" y="6848475"/>
            <a:ext cx="935534" cy="533400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5944493" y="6848475"/>
            <a:ext cx="1559123" cy="533400"/>
          </a:xfrm>
          <a:prstGeom prst="rect">
            <a:avLst/>
          </a:prstGeom>
          <a:solidFill>
            <a:srgbClr val="F2B84B">
              <a:alpha val="8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1266825" y="7496175"/>
            <a:ext cx="38543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sub-train 80%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008959" y="7496175"/>
            <a:ext cx="10117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20%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944493" y="7496175"/>
            <a:ext cx="163532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250d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66825" y="8296275"/>
            <a:ext cx="642404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grid-searched in {3,5,7,10,15,20,30,40,50} on the validation slice, then frozen and applied once to the untouched test slice.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8046690" y="6076950"/>
            <a:ext cx="4549080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322915" y="6315075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4" name="Text 62"/>
          <p:cNvSpPr/>
          <p:nvPr/>
        </p:nvSpPr>
        <p:spPr>
          <a:xfrm>
            <a:off x="8665964" y="6315075"/>
            <a:ext cx="37631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daily features → KNN regression → long/flat signal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786271" y="6076950"/>
            <a:ext cx="4549229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3062496" y="6315075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13405545" y="6315075"/>
            <a:ext cx="3763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k-selection on an 80/20 validation split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8046690" y="7934325"/>
            <a:ext cx="4549080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8322915" y="8172450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70" name="Text 68"/>
          <p:cNvSpPr/>
          <p:nvPr/>
        </p:nvSpPr>
        <p:spPr>
          <a:xfrm>
            <a:off x="8665964" y="8172450"/>
            <a:ext cx="37631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rolling windows on real AAXJ prices, 10 bps costs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786271" y="7934325"/>
            <a:ext cx="4549229" cy="1666875"/>
          </a:xfrm>
          <a:prstGeom prst="roundRect">
            <a:avLst>
              <a:gd name="adj" fmla="val 2286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13062496" y="8172450"/>
            <a:ext cx="2477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73" name="Text 71"/>
          <p:cNvSpPr/>
          <p:nvPr/>
        </p:nvSpPr>
        <p:spPr>
          <a:xfrm>
            <a:off x="13405545" y="8172450"/>
            <a:ext cx="376334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check: ratio AND Sharpe — generalising ≠ profitable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weighting helped — partially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04925" y="3074194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MEDIAN RATIO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4925" y="3531394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+0.13</a:t>
            </a:r>
            <a:endParaRPr lang="en-US" sz="4350" dirty="0"/>
          </a:p>
        </p:txBody>
      </p:sp>
      <p:sp>
        <p:nvSpPr>
          <p:cNvPr id="22" name="Text 20"/>
          <p:cNvSpPr/>
          <p:nvPr/>
        </p:nvSpPr>
        <p:spPr>
          <a:xfrm>
            <a:off x="1304925" y="4245769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only ~1/8 of validation performance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02301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4726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MEDIAN RATIO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4726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4350" dirty="0"/>
          </a:p>
        </p:txBody>
      </p:sp>
      <p:sp>
        <p:nvSpPr>
          <p:cNvPr id="26" name="Text 24"/>
          <p:cNvSpPr/>
          <p:nvPr/>
        </p:nvSpPr>
        <p:spPr>
          <a:xfrm>
            <a:off x="6854726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about half — still far from 1.0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52250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04675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LOSS-MAKING WINDOWS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04675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4/6 → 3/6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12404675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vs. DWKNN, out of 6 windows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5919788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304925" y="7022306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MEAN RATIO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04925" y="7479506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</a:t>
            </a:r>
            <a:endParaRPr lang="en-US" sz="4350" dirty="0"/>
          </a:p>
        </p:txBody>
      </p:sp>
      <p:sp>
        <p:nvSpPr>
          <p:cNvPr id="34" name="Text 32"/>
          <p:cNvSpPr/>
          <p:nvPr/>
        </p:nvSpPr>
        <p:spPr>
          <a:xfrm>
            <a:off x="1304925" y="8193881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 0.43 — unstable across windows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02301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54726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MEAN RATIO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4726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+0.46</a:t>
            </a:r>
            <a:endParaRPr lang="en-US" sz="4350" dirty="0"/>
          </a:p>
        </p:txBody>
      </p:sp>
      <p:sp>
        <p:nvSpPr>
          <p:cNvPr id="38" name="Text 36"/>
          <p:cNvSpPr/>
          <p:nvPr/>
        </p:nvSpPr>
        <p:spPr>
          <a:xfrm>
            <a:off x="6854726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 0.97 — window 6 weighs, see slide 7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052250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2404675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WALK-FORWARD WINDOWS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404675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4350" dirty="0"/>
          </a:p>
        </p:txBody>
      </p:sp>
      <p:sp>
        <p:nvSpPr>
          <p:cNvPr id="42" name="Text 40"/>
          <p:cNvSpPr/>
          <p:nvPr/>
        </p:nvSpPr>
        <p:spPr>
          <a:xfrm>
            <a:off x="12404675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AAXJ data, 500d train / 250d test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KNN vs. DWKNN, window by window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857375"/>
            <a:ext cx="9737527" cy="7743825"/>
          </a:xfrm>
          <a:prstGeom prst="roundRect">
            <a:avLst>
              <a:gd name="adj" fmla="val 492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43025" y="2209800"/>
            <a:ext cx="530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GENERALISATION RATIO PER WINDOW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50472" y="2209800"/>
            <a:ext cx="19488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VANILLA KNN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50722" y="2209800"/>
            <a:ext cx="10249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DWKNN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3025" y="2667000"/>
            <a:ext cx="190500" cy="190500"/>
          </a:xfrm>
          <a:prstGeom prst="rect">
            <a:avLst/>
          </a:prstGeom>
          <a:solidFill>
            <a:srgbClr val="E9E7E0">
              <a:alpha val="50000"/>
            </a:srgbClr>
          </a:solidFill>
          <a:ln w="9525">
            <a:solidFill>
              <a:srgbClr val="8B93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628775" y="2609850"/>
            <a:ext cx="46620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ratio, still loss-making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43025" y="3372536"/>
            <a:ext cx="5120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876425" y="3541700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343025" y="4100855"/>
            <a:ext cx="5120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876425" y="4270019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343025" y="5557495"/>
            <a:ext cx="5120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876425" y="5726659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343025" y="7014134"/>
            <a:ext cx="512064" cy="342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876425" y="7183298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43025" y="6285814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43025" y="7362825"/>
            <a:ext cx="3506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876425" y="7553325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876425" y="4993310"/>
            <a:ext cx="8423077" cy="1905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952625" y="4673727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876425" y="6454978"/>
            <a:ext cx="8423077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2149376" y="6459550"/>
            <a:ext cx="321022" cy="948272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527548" y="6459550"/>
            <a:ext cx="321022" cy="856504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430363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584972" y="6271644"/>
            <a:ext cx="321022" cy="187906"/>
          </a:xfrm>
          <a:prstGeom prst="roundRect">
            <a:avLst>
              <a:gd name="adj" fmla="val 1538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3963144" y="5770560"/>
            <a:ext cx="321022" cy="688990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865959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0568" y="6273100"/>
            <a:ext cx="321022" cy="186450"/>
          </a:xfrm>
          <a:prstGeom prst="roundRect">
            <a:avLst>
              <a:gd name="adj" fmla="val 6452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398740" y="5511278"/>
            <a:ext cx="321022" cy="948272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301555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456164" y="6459550"/>
            <a:ext cx="321022" cy="614702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6834336" y="6459550"/>
            <a:ext cx="321022" cy="597222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737152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891760" y="6003622"/>
            <a:ext cx="321022" cy="455928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 w="1905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8269932" y="5742884"/>
            <a:ext cx="321022" cy="716666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 w="1905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8172748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327356" y="5855045"/>
            <a:ext cx="321022" cy="604505"/>
          </a:xfrm>
          <a:prstGeom prst="roundRect">
            <a:avLst>
              <a:gd name="adj" fmla="val 5934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9705529" y="3343799"/>
            <a:ext cx="321022" cy="3115751"/>
          </a:xfrm>
          <a:prstGeom prst="roundRect">
            <a:avLst>
              <a:gd name="adj" fmla="val 5934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9608344" y="76200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95201" y="7981950"/>
            <a:ext cx="98521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8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WALK-FORWARD WINDOW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956727" y="1857375"/>
            <a:ext cx="6378773" cy="7743825"/>
          </a:xfrm>
          <a:prstGeom prst="roundRect">
            <a:avLst>
              <a:gd name="adj" fmla="val 597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1347252" y="2209800"/>
            <a:ext cx="6157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GENERALISATION RATIO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1347252" y="267652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1880652" y="278130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11347252" y="3371850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1880652" y="361191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11347252" y="4038600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880652" y="4284464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11347252" y="4762500"/>
            <a:ext cx="2134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347252" y="543877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880652" y="5629275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11880652" y="3267075"/>
            <a:ext cx="5064323" cy="1905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11880652" y="294322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1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1880652" y="4956870"/>
            <a:ext cx="5064323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12597705" y="4738535"/>
            <a:ext cx="1097905" cy="218427"/>
          </a:xfrm>
          <a:prstGeom prst="roundRect">
            <a:avLst>
              <a:gd name="adj" fmla="val 5405"/>
            </a:avLst>
          </a:prstGeom>
          <a:solidFill>
            <a:srgbClr val="FF5C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12559605" y="4385577"/>
            <a:ext cx="1174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2392323" y="5886450"/>
            <a:ext cx="16597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129867" y="4150462"/>
            <a:ext cx="1097905" cy="806501"/>
          </a:xfrm>
          <a:prstGeom prst="roundRect">
            <a:avLst>
              <a:gd name="adj" fmla="val 1735"/>
            </a:avLst>
          </a:prstGeom>
          <a:solidFill>
            <a:srgbClr val="2ED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15091767" y="3797503"/>
            <a:ext cx="1174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5335994" y="5886450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ratio isn't a good strategy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04925" y="3074194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IN-SAMPLE SHARPE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4925" y="3531394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4350" dirty="0"/>
          </a:p>
        </p:txBody>
      </p:sp>
      <p:sp>
        <p:nvSpPr>
          <p:cNvPr id="22" name="Text 20"/>
          <p:cNvSpPr/>
          <p:nvPr/>
        </p:nvSpPr>
        <p:spPr>
          <a:xfrm>
            <a:off x="1304925" y="4245769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in-sample, negative out of sample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02301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4726" y="29217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IN-SAMPLE SHARPE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4726" y="33789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</a:t>
            </a:r>
            <a:endParaRPr lang="en-US" sz="4350" dirty="0"/>
          </a:p>
        </p:txBody>
      </p:sp>
      <p:sp>
        <p:nvSpPr>
          <p:cNvPr id="26" name="Text 24"/>
          <p:cNvSpPr/>
          <p:nvPr/>
        </p:nvSpPr>
        <p:spPr>
          <a:xfrm>
            <a:off x="6854726" y="4093369"/>
            <a:ext cx="47157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9.92 before I fixed a look-ahead bug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52250" y="1971675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2404675" y="3074194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TEST-SHARPE WINDOWS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04675" y="3531394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0/6 → 3/6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12404675" y="4245769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vs. DWKNN — better, not solved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5919788"/>
            <a:ext cx="5283101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304925" y="7022306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KNN · TEST SHARPE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04925" y="7479506"/>
            <a:ext cx="5036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−0.58</a:t>
            </a:r>
            <a:endParaRPr lang="en-US" sz="4350" dirty="0"/>
          </a:p>
        </p:txBody>
      </p:sp>
      <p:sp>
        <p:nvSpPr>
          <p:cNvPr id="34" name="Text 32"/>
          <p:cNvSpPr/>
          <p:nvPr/>
        </p:nvSpPr>
        <p:spPr>
          <a:xfrm>
            <a:off x="1304925" y="8193881"/>
            <a:ext cx="5036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in every single window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02301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54726" y="7022306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· TEST SHARPE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4726" y="7479506"/>
            <a:ext cx="50362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4350" dirty="0"/>
          </a:p>
        </p:txBody>
      </p:sp>
      <p:sp>
        <p:nvSpPr>
          <p:cNvPr id="38" name="Text 36"/>
          <p:cNvSpPr/>
          <p:nvPr/>
        </p:nvSpPr>
        <p:spPr>
          <a:xfrm>
            <a:off x="6854726" y="8193881"/>
            <a:ext cx="503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improved, but still negative on average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052250" y="5919788"/>
            <a:ext cx="5283250" cy="3681413"/>
          </a:xfrm>
          <a:prstGeom prst="roundRect">
            <a:avLst>
              <a:gd name="adj" fmla="val 1035"/>
            </a:avLst>
          </a:prstGeom>
          <a:solidFill>
            <a:srgbClr val="141B33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2404675" y="7417594"/>
            <a:ext cx="471575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800" kern="0" spc="36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“Ratio vs. Sharpe — 'generalised well' ≠ 'performed well'”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right isn't enough — I checked why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1971675"/>
            <a:ext cx="8020050" cy="7629525"/>
          </a:xfrm>
          <a:prstGeom prst="roundRect">
            <a:avLst>
              <a:gd name="adj" fmla="val 499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381125" y="2400300"/>
            <a:ext cx="7879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DWKNN win itself outlier-driven?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81125" y="2952750"/>
            <a:ext cx="7377684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window's ratio (</a:t>
            </a: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2.14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pulls the DWKNN mean from </a:t>
            </a: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(without it) up to </a:t>
            </a:r>
            <a:r>
              <a:rPr lang="en-US" sz="195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it) — same distortion pattern as project one.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1125" y="4332833"/>
            <a:ext cx="73776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median barely moves (</a:t>
            </a:r>
            <a:r>
              <a:rPr lang="en-US" sz="195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 → 0.48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which is why it's the statistic to trust.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315450" y="1971675"/>
            <a:ext cx="8020050" cy="7629525"/>
          </a:xfrm>
          <a:prstGeom prst="roundRect">
            <a:avLst>
              <a:gd name="adj" fmla="val 499"/>
            </a:avLst>
          </a:prstGeom>
          <a:solidFill>
            <a:srgbClr val="10162B"/>
          </a:solidFill>
          <a:ln w="9525">
            <a:solidFill>
              <a:srgbClr val="E9E7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744075" y="2400300"/>
            <a:ext cx="78790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positive ratio isn't always good news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744075" y="2952750"/>
            <a:ext cx="7377684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window's DWKNN ratio is </a:t>
            </a:r>
            <a:r>
              <a:rPr lang="en-US" sz="1950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+0.49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but validation return was </a:t>
            </a:r>
            <a:r>
              <a:rPr lang="en-US" sz="19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−8.9%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test return was </a:t>
            </a:r>
            <a:r>
              <a:rPr lang="en-US" sz="1950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−12.4% </a:t>
            </a: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Two negative numbers divided give a positive ratio, even though the strategy lost money both times.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744075" y="4716661"/>
            <a:ext cx="737768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ratio must always be read together with the sign of the underlying returns.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1028700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projects, one honest research habit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952500" y="4657725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52500" y="3629025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600200" y="3629025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one: a naive correction (averaging top-5 parameters) failed. Project two: a theoretically motivated one (distance weighting) improved things — without fully solving them.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5562600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52500" y="4933950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00200" y="4933950"/>
            <a:ext cx="149009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overfitting trap isn't specific to trading rules — it shows up in a textbook ML hyperparameter (k) just as clearly.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52500" y="6867525"/>
            <a:ext cx="15240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52500" y="5838825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600200" y="5838825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Generalisation ratio and Sharpe ratio answer different questions. A model can "generalise" a mediocre result faithfully — that's not the same as being profitable.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52500" y="7143750"/>
            <a:ext cx="457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600200" y="7143750"/>
            <a:ext cx="15030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audited my own code and found two bugs: a look-ahead in the in-sample Sharpe and a 250- vs. 100-day horizon mismatch in the ratio. Once fixed, the DWKNN median fell from 1.11 to 0.48.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016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600075"/>
            <a:ext cx="18288000" cy="9525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52500" y="185738"/>
            <a:ext cx="643235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AAXJ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05285" y="185738"/>
            <a:ext cx="1403166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2016–2024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6664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94224" y="185738"/>
            <a:ext cx="1068437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2211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979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27378" y="185738"/>
            <a:ext cx="265048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DWKNN RATIO (MED)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22655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2ED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17125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44708" y="185738"/>
            <a:ext cx="2962349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SHARPE (DWKNN)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023503" y="185738"/>
            <a:ext cx="784920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FF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17972" y="185738"/>
            <a:ext cx="21803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45555" y="185738"/>
            <a:ext cx="1210121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865227" y="185738"/>
            <a:ext cx="926604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800" kern="0" spc="36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BPS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708053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4241453"/>
            <a:ext cx="8580254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Martin Muller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952500" y="5051078"/>
            <a:ext cx="858025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8B9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ESCP Business School · M1 Applied Mathematics, Sorbonne Université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500" y="5778698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martin.muller@edu.escp.eu</a:t>
            </a:r>
            <a:endParaRPr lang="en-US" sz="1800" dirty="0"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952500" y="6197798"/>
            <a:ext cx="85802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u="sng" dirty="0">
                <a:solidFill>
                  <a:srgbClr val="E9E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linkedin.com/in/martin-muller1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05231" y="3505200"/>
            <a:ext cx="9525" cy="3200400"/>
          </a:xfrm>
          <a:prstGeom prst="rect">
            <a:avLst/>
          </a:prstGeom>
          <a:solidFill>
            <a:srgbClr val="E9E7E0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0667256" y="3505200"/>
            <a:ext cx="6868291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E9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Dual-degree student building a quantitative finance profile at the intersection of applied mathematics and market practice — managing my own equity portfolio for 2+ years alongside my studies. I write up projects like this one to learn in public and to hold my own results to the same standard I'd expect from anyone else's.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1202</Words>
  <Application>Microsoft Office PowerPoint</Application>
  <PresentationFormat>Personnalisé</PresentationFormat>
  <Paragraphs>282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Martin MULLER</cp:lastModifiedBy>
  <cp:revision>2</cp:revision>
  <dcterms:created xsi:type="dcterms:W3CDTF">2026-07-15T12:41:42Z</dcterms:created>
  <dcterms:modified xsi:type="dcterms:W3CDTF">2026-07-15T13:49:19Z</dcterms:modified>
</cp:coreProperties>
</file>